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4389120"/>
            <a:ext cx="4416552" cy="246888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4C5C"/>
                </a:solidFill>
                <a:latin typeface="맑은 고딕"/>
              </a:rPr>
              <a:t>LG전자 생산기술원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전시회 관람 보고서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4C5C"/>
                </a:solidFill>
                <a:latin typeface="맑은 고딕"/>
              </a:rPr>
              <a:t>2026 부산로봇기술산업전시회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BBCC"/>
                </a:solidFill>
                <a:latin typeface="맑은 고딕"/>
              </a:rPr>
              <a:t>ROBO EXPO Busan 2026  ·  2026. 7. 1 – 7. 3  ·  부산 벡스코(BEXCO) 제2전시장 4홀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00400"/>
            <a:ext cx="6858000" cy="36576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CCCCCC"/>
                </a:solidFill>
                <a:latin typeface="맑은 고딕"/>
              </a:rPr>
              <a:t>주제: 로봇 인공지능 기반 기술과 혁신이 만드는 새로운 부산의 물결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CCCCC"/>
                </a:solidFill>
                <a:latin typeface="맑은 고딕"/>
              </a:rPr>
              <a:t>주관: 한국산업전람  |  동시개최: 부산오토매뉴팩 · 빅테크쇼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029200"/>
            <a:ext cx="2286000" cy="10515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029200"/>
            <a:ext cx="54864" cy="105156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10235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4C5C"/>
                </a:solidFill>
                <a:latin typeface="맑은 고딕"/>
              </a:rPr>
              <a:t>5개국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235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참가국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5029200"/>
            <a:ext cx="2286000" cy="10515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08960" y="5029200"/>
            <a:ext cx="54864" cy="105156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510235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4C5C"/>
                </a:solidFill>
                <a:latin typeface="맑은 고딕"/>
              </a:rPr>
              <a:t>363부스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6235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전시 규모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79" y="5029200"/>
            <a:ext cx="2286000" cy="105156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79" y="5029200"/>
            <a:ext cx="54864" cy="105156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39" y="510235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4C5C"/>
                </a:solidFill>
                <a:latin typeface="맑은 고딕"/>
              </a:rPr>
              <a:t>8,352㎡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19" y="56235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전시 면적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99AA"/>
                </a:solidFill>
                <a:latin typeface="맑은 고딕"/>
              </a:rPr>
              <a:t>작성: LG전자 생산기술원  |  관람일: 2026. 7.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6012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전시회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400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C5C"/>
                </a:solidFill>
                <a:latin typeface="맑은 고딕"/>
              </a:rPr>
              <a:t>2026 부산로봇엑스포 기본 현황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097280"/>
            <a:ext cx="530352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097280"/>
            <a:ext cx="5303520" cy="4114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0972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행사 기본 정보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600200"/>
            <a:ext cx="137160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64592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전시 기간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165506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2026. 7. 1(수) ~ 7. 3(금), 3일간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48840"/>
            <a:ext cx="137160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1945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전시 장소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20370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부산 벡스코(BEXCO) 제2전시장 4홀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697480"/>
            <a:ext cx="137160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7432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관람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275234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7/1~7/2: 10:00~17:00  /  7/3: 10:00~16:00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246120"/>
            <a:ext cx="137160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2918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참가 규모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30098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5개국, 363개 부스 (8,352㎡)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94760"/>
            <a:ext cx="137160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8404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참가국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384962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한국, 독일, 일본, 중국, 말레이시아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343400"/>
            <a:ext cx="137160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38912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439826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한국산업전람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892040"/>
            <a:ext cx="137160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93776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동시 개최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494690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부산오토매뉴팩 · 빅테크쇼
2026 부산모빌리티쇼(BIMOS)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440680"/>
            <a:ext cx="1371600" cy="5029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54864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전시 주제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549554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로봇 AI 기반 기술과 혁신이
만드는 새로운 부산의 물결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52160" y="1097280"/>
            <a:ext cx="6035040" cy="41148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52160" y="109728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전시 분야 구성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1600200"/>
            <a:ext cx="2194560" cy="47548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165506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🤖 휴머노이드 로봇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165506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이족·4족 보행 로봇, AI 자율행동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2148840"/>
            <a:ext cx="2194560" cy="47548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22037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🏭 산업용 로봇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2440" y="220370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다관절 로봇, 7축 용접로봇, SCARA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2697480"/>
            <a:ext cx="2194560" cy="47548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97880" y="275234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🤝 협동로봇(Cobot)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92440" y="275234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중소기업 맞춤, 직접 교시 솔루션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246120"/>
            <a:ext cx="2194560" cy="47548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97880" y="330098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📦 물류 자동화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92440" y="330098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AMR, AGV, 대형 물류운반 드론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2160" y="3794760"/>
            <a:ext cx="2194560" cy="47548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80" y="384962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🏗 스마트팩토리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92440" y="384962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디지털 트윈, AI 품질검사, MES 연동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52160" y="4343400"/>
            <a:ext cx="2194560" cy="47548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97880" y="439826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✈ 드론 / 무인기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439826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산업용·수상·물류 드론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52160" y="4892040"/>
            <a:ext cx="2194560" cy="47548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97880" y="494690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🧩 로봇 부품·센서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2440" y="494690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감속기, 모터, 비전·힘 토크 센서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52160" y="5440680"/>
            <a:ext cx="2194560" cy="47548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80" y="549554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🤖 서비스 로봇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92440" y="5495544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서빙·조리 로봇, 매장 자동화 솔루션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6012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주요 참가기업 및 전시 하이라이트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400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C5C"/>
                </a:solidFill>
                <a:latin typeface="맑은 고딕"/>
              </a:rPr>
              <a:t>5개국 363부스 — 글로벌 탑티어 기업 총출동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97280"/>
            <a:ext cx="283464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097280"/>
            <a:ext cx="2834640" cy="4572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1115568"/>
            <a:ext cx="640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중국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115568"/>
            <a:ext cx="1417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맑은 고딕"/>
              </a:rPr>
              <a:t>최대 주목 부스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16002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E4A"/>
                </a:solidFill>
                <a:latin typeface="맑은 고딕"/>
              </a:rPr>
              <a:t>유니트리 로보틱스
(Unitree Robotics)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21992"/>
            <a:ext cx="2651760" cy="2743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286000"/>
            <a:ext cx="263347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H1·G1 휴머노이드 실물 시연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4족 보행 Go2 산업 적용 사례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AI 자율보행 · 장애물 회피 시연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가격 경쟁력 압도적 — 국내 대비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1097280"/>
            <a:ext cx="283464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1097280"/>
            <a:ext cx="2834640" cy="4572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3552" y="1115568"/>
            <a:ext cx="640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중국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1115568"/>
            <a:ext cx="1417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맑은 고딕"/>
              </a:rPr>
              <a:t>드론·무인기 대표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16002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E4A"/>
                </a:solidFill>
                <a:latin typeface="맑은 고딕"/>
              </a:rPr>
              <a:t>DJI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2221992"/>
            <a:ext cx="2651760" cy="2743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0128" y="2286000"/>
            <a:ext cx="263347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산업용 드론 · 대형 물류운반 드론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공장 내 부품 이송 운용 시나리오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수상 드론(해양 모니터링·물류)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3D 공간 물류 동선 최적화 제안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097280"/>
            <a:ext cx="283464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1097280"/>
            <a:ext cx="2834640" cy="4572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115568"/>
            <a:ext cx="640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한국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1115568"/>
            <a:ext cx="1417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맑은 고딕"/>
              </a:rPr>
              <a:t>Cobot 솔루션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6002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E4A"/>
                </a:solidFill>
                <a:latin typeface="맑은 고딕"/>
              </a:rPr>
              <a:t>협동로봇
국내 전문업체군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221992"/>
            <a:ext cx="2651760" cy="2743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1928" y="2286000"/>
            <a:ext cx="263347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직접 교시(Direct Teaching) 보편화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다품종 소량 대응 유연 셀 구성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힘·토크 센서 기반 정밀 협업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중소 제조현장 맞춤형 패키지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1097280"/>
            <a:ext cx="2834640" cy="5212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0" y="1097280"/>
            <a:ext cx="2834640" cy="457200"/>
          </a:xfrm>
          <a:prstGeom prst="rect">
            <a:avLst/>
          </a:prstGeom>
          <a:solidFill>
            <a:srgbClr val="7B3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17152" y="1115568"/>
            <a:ext cx="640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한국·독일·일본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1115568"/>
            <a:ext cx="14173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맑은 고딕"/>
              </a:rPr>
              <a:t>물류 자동화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160020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E4A"/>
                </a:solidFill>
                <a:latin typeface="맑은 고딕"/>
              </a:rPr>
              <a:t>AMR/AGV
자율물류 업체군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2221992"/>
            <a:ext cx="2651760" cy="27432"/>
          </a:xfrm>
          <a:prstGeom prst="rect">
            <a:avLst/>
          </a:prstGeom>
          <a:solidFill>
            <a:srgbClr val="7B3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53728" y="2286000"/>
            <a:ext cx="263347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SLAM 기반 자율 맵핑 실용화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다중 로봇 Fleet Management SW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MES 연동 실시간 동선 재설정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좁은 통로·인원 혼재 안전 알고리즘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6355080"/>
            <a:ext cx="11704320" cy="292608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핵심 관찰: 중국 기업(유니트리·DJI)의 기술 수준이 글로벌 선두권 진입 — 가격 경쟁력과 기술 완성도 동시 충격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6012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LG생산기술원 관점 주요 발견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400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C5C"/>
                </a:solidFill>
                <a:latin typeface="맑은 고딕"/>
              </a:rPr>
              <a:t>협동로봇(Cobot)  &amp;  AMR 물류 자동화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51560"/>
            <a:ext cx="5760720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051560"/>
            <a:ext cx="5760720" cy="4572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0515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협동로봇(Cobot) — 제조 현장 적용 확대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  <a:latin typeface="맑은 고딕"/>
              </a:rPr>
              <a:t>관찰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38528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직접 교시(Direct Teaching) UI 보편화 — 재프로그래밍 없이 현장 전환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힘·토크 센서 내장으로 복잡한 케이블/부품 조립 대응 가능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다품종 소량 환경에서 유연 셀 구성 능력 크게 향상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인간-로봇 공존 안전 규격(ISO/TS 15066) 기반 제품 표준화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56432"/>
            <a:ext cx="5486400" cy="36576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520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E0A2C"/>
                </a:solidFill>
                <a:latin typeface="맑은 고딕"/>
              </a:rPr>
              <a:t>LG생산기술원 시사점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58768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▶ 가전·전장 조립공정 Human-Robot Collaboration 확대 검토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▶ 힘·토크 센서 기반 Cobot의 LG 공정 적합성 평가 착수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▶ 생산기술원 공정 최적화 노하우를 Cobot 티칭에 내재화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▶ 단기 파일럿 대상 공정 선정 → PoC 기획 (6개월 내)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051560"/>
            <a:ext cx="5760720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051560"/>
            <a:ext cx="5760720" cy="4572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0515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AMR 기반 공장 내 물류 자동화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  <a:latin typeface="맑은 고딕"/>
              </a:rPr>
              <a:t>관찰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938528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SLAM 기반 자율 맵핑 — 고정 레일 없이 공장 환경 동적 인식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다중 AMR Fleet Management SW 완성도 대폭 향상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MES 연동 → 생산 계획 변경 시 실시간 동선 재설정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• 충전 자율 귀환, 배터리 최적 관리, 인원 혼재 안전 알고리즘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3456432"/>
            <a:ext cx="5486400" cy="36576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520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E0A2C"/>
                </a:solidFill>
                <a:latin typeface="맑은 고딕"/>
              </a:rPr>
              <a:t>LG생산기술원 시사점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858768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▶ 창원·구미 공장 AGV → AMR 전환 가속화 시점 재검토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▶ 계열사 로보스타 AGV/AMR 솔루션과의 연계 강화 방안 수립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▶ LG생산기술원 자체 개발 MM(웨이퍼 이송 로봇) 기술의
    공장 물류 영역 확장 가능성 검토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▶ AMR 도입 대상 공장 선정 및 타당성 분석 착수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6012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LG생산기술원 관점 주요 발견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400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C5C"/>
                </a:solidFill>
                <a:latin typeface="맑은 고딕"/>
              </a:rPr>
              <a:t>휴머노이드 로봇  ·  AI 스마트팩토리  ·  7축 용접로봇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51560"/>
            <a:ext cx="3749039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051560"/>
            <a:ext cx="3749039" cy="4572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05156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🤖 휴머노이드 로봇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554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맑은 고딕"/>
              </a:rPr>
              <a:t>미래 제조 환경의 판도 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19202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▮ 관찰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194560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유니트리 G1 실시간 시연: 부품 집기·이송·조립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비정형 작업 대응력 및 공간 활용성 우수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작업 속도·정확도는 전용 로봇 대비 아직 부족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중국산 상용 제품 가격 급속 하락 추세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49039"/>
            <a:ext cx="3566160" cy="2743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794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E0A2C"/>
                </a:solidFill>
                <a:latin typeface="맑은 고딕"/>
              </a:rPr>
              <a:t>▮ 시사점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" y="4087368"/>
            <a:ext cx="352958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단기(1~3년): 물류·자재 공급 등 비정밀 작업 파일럿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중기(3~5년): 조립 보조·검사 등 반정밀 작업 확대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장기: 전용 설비 → 휴머노이드 기반 유연 생산 전환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중국 업체 가격 경쟁력 감안한 조기 도입 전략 수립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15384" y="1051560"/>
            <a:ext cx="3749039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15384" y="1051560"/>
            <a:ext cx="3749039" cy="4572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15384" y="105156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🧠 AI 스마트팩토리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6824" y="1554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맑은 고딕"/>
              </a:rPr>
              <a:t>공정 내 AI 인라인 검사 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6824" y="19202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▮ 관찰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5112" y="2194560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GPU 엣지 컴퓨팅 기반 실시간 불량 인라인 검출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디지털 트윈으로 공정 파라미터 AI 최적화 플랫폼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RaaS(Robot as a Service) 구독 모델 확산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하드웨어 대비 SW 플랫폼 가치 이동 뚜렷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6824" y="3749039"/>
            <a:ext cx="3566160" cy="2743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06824" y="3794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▮ 시사점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5112" y="4087368"/>
            <a:ext cx="352958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자율제조(Autonomous Manufacturing) 로드맵 수립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AI 비전 검사 솔루션 공급업체 비교 평가 착수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외주 솔루션 vs. 자체 AI 플랫폼 구축 최적점 도출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보유 공정 데이터 → AI 모델 학습 파이프라인 정비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02168" y="1051560"/>
            <a:ext cx="3749039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02168" y="1051560"/>
            <a:ext cx="3749039" cy="4572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105156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⚙ 7축 로봇 용접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1554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맑은 고딕"/>
              </a:rPr>
              <a:t>특수 제조 공정 고도화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3608" y="19202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▮ 관찰 내용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6" y="2194560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6축 대비 높은 자유도 — 복잡한 곡면 용접 가능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좁은 공간 접근성 우수, 장애물 회피 유연성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가전 외장재·전장 부품 정밀 용접 적용 가능성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용접 품질 AI 실시간 모니터링 통합 솔루션 등장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93608" y="3749039"/>
            <a:ext cx="3566160" cy="2743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794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3C"/>
                </a:solidFill>
                <a:latin typeface="맑은 고딕"/>
              </a:rPr>
              <a:t>▮ 시사점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4087368"/>
            <a:ext cx="352958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대형 가전(세탁기·냉장고) 금속 프레임 용접 공정 적용 검토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기존 설비 인터페이스(OPC-UA, PROFINET) 호환성 검증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1A1A"/>
                </a:solidFill>
                <a:latin typeface="맑은 고딕"/>
              </a:rPr>
              <a:t>용접 파라미터 AI 최적화 결합 시 품질 향상 기대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6012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산업 트렌드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400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C5C"/>
                </a:solidFill>
                <a:latin typeface="맑은 고딕"/>
              </a:rPr>
              <a:t>이번 전시회에서 확인한 3대 메가 트렌드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51560"/>
            <a:ext cx="3749039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051560"/>
            <a:ext cx="3749039" cy="6858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1078992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111556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로봇 · AI · 모빌리티
산업 융합 가속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828800"/>
            <a:ext cx="349300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자동차·모빌리티 산업과 로봇·자동화 산업의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경계가 허물어지는 트렌드 명확히 확인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EV 배터리 조립 로봇, 전장 부품 제조 자동화,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자율주행 기술의 제조 현장 적용이 하나의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생태계로 수렴 중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→ 부산모빌리티쇼 동시 개최가 단순 행사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 규모 확장 아닌 산업 융합 반영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15384" y="1051560"/>
            <a:ext cx="3749039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15384" y="1051560"/>
            <a:ext cx="3749039" cy="6858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2" y="1078992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2" y="111556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중국 로봇 기업
기술 고도화 충격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1828800"/>
            <a:ext cx="349300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유니트리(Unitree), DJI 등 중국 기업의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기술 수준이 글로벌 선두권에 도달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가격 경쟁력은 국내 대비 압도적 우위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국내 기업 대응 방향: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• 차별화된 SW 플랫폼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• 도메인 특화 솔루션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• 고신뢰성 산업(방산·항공·반도체)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  집중 전략 불가피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02168" y="1051560"/>
            <a:ext cx="3749039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02168" y="1051560"/>
            <a:ext cx="3749039" cy="685800"/>
          </a:xfrm>
          <a:prstGeom prst="rect">
            <a:avLst/>
          </a:prstGeom>
          <a:solidFill>
            <a:srgbClr val="7B3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1078992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111556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소프트웨어 · AI 중심
가치 이동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1828800"/>
            <a:ext cx="349300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하드웨어(로봇 본체) 대비 Fleet Mgmt SW,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AI 제어 플랫폼, 클라우드 연동 서비스의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중요성이 부각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로봇 구매 → RaaS(Robot as a Service)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구독 모델 확산 추세 확인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→ '어떤 로봇을 사느냐'보다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'어떤 플랫폼으로 운용하느냐'가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1A1A"/>
                </a:solidFill>
                <a:latin typeface="맑은 고딕"/>
              </a:rPr>
              <a:t>  경쟁 우위 결정 요소로 부상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96012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시사점 및 제언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64008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4C5C"/>
                </a:solidFill>
                <a:latin typeface="맑은 고딕"/>
              </a:rPr>
              <a:t>LG전자 생산기술원 단기 실행 과제 &amp; 중장기 전략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60196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LG전자 생산기술원  |  2026 부산로봇엑스포 관람 보고서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601968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맑은 고딕"/>
              </a:rPr>
              <a:t>2026. 7. 3.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051560"/>
            <a:ext cx="11704320" cy="41148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105156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단기 실행 과제 (6개월 이내)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508760"/>
            <a:ext cx="868680" cy="43891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1563624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1순위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15568" y="1508760"/>
            <a:ext cx="859536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15819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협동로봇 파일럿 공정 적용 검토 및 PoC 기획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9216" y="1508760"/>
            <a:ext cx="2194560" cy="438912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29216" y="156362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공정자동화팀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011680"/>
            <a:ext cx="868680" cy="43891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2066544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2순위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568" y="2011680"/>
            <a:ext cx="859536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208483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AMR 도입 대상 공장(창원·구미) 선정 및 타당성 분석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9216" y="2011680"/>
            <a:ext cx="2194560" cy="438912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9216" y="206654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물류혁신팀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2514600"/>
            <a:ext cx="868680" cy="43891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2569464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3순위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15568" y="2514600"/>
            <a:ext cx="859536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258775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AI 비전 검사 솔루션 공급업체 비교 평가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29216" y="2514600"/>
            <a:ext cx="2194560" cy="43891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25694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품질기술팀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017520"/>
            <a:ext cx="868680" cy="438912"/>
          </a:xfrm>
          <a:prstGeom prst="rect">
            <a:avLst/>
          </a:prstGeom>
          <a:solidFill>
            <a:srgbClr val="7B3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" y="3072384"/>
            <a:ext cx="868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4순위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15568" y="3017520"/>
            <a:ext cx="859536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30906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휴머노이드 로봇 기술 로드맵 내부 검토 착수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29216" y="3017520"/>
            <a:ext cx="2194560" cy="438912"/>
          </a:xfrm>
          <a:prstGeom prst="rect">
            <a:avLst/>
          </a:prstGeom>
          <a:solidFill>
            <a:srgbClr val="7B3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29216" y="307238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미래기술팀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3657600"/>
            <a:ext cx="11704320" cy="36576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" y="3730752"/>
            <a:ext cx="11704320" cy="4114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" y="3730752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중장기 전략 방향 (1~3년)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4206240"/>
            <a:ext cx="566928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" y="4206240"/>
            <a:ext cx="54864" cy="749808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424281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① 자율제조 로드맵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55371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2028년 목표 공장 자동화율 설정 및 단계별 추진 계획 수립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9048" y="4206240"/>
            <a:ext cx="566928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9048" y="4206240"/>
            <a:ext cx="54864" cy="749808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36208" y="424281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② 휴머노이드 파일럿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36208" y="455371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물류·보조 작업부터 단계적 도입, 2027년 파일럿 라인 구성 목표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" y="5074920"/>
            <a:ext cx="566928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600" y="5074920"/>
            <a:ext cx="54864" cy="749808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511149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③ 계열사 연계 강화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5422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로보스타 AGV/AMR 기술 연계 — 외부 도입 vs. 내부 개발 최적점 도출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9048" y="5074920"/>
            <a:ext cx="5669280" cy="7498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99048" y="5074920"/>
            <a:ext cx="54864" cy="749808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36208" y="511149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E4A"/>
                </a:solidFill>
                <a:latin typeface="맑은 고딕"/>
              </a:rPr>
              <a:t>④ 기술 모니터링 체계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36208" y="542239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맑은 고딕"/>
              </a:rPr>
              <a:t>분기별 국내외 주요 전시회 관람 및 기술 동향 내재화 체계 구축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CE0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4C5C"/>
                </a:solidFill>
                <a:latin typeface="맑은 고딕"/>
              </a:rPr>
              <a:t>결 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2026 부산로봇엑스포는 로봇·자동화 기술의 현 주소와 향후 방향성을</a:t>
            </a:r>
          </a:p>
          <a:p>
            <a:pPr algn="l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파악하는 데 있어 매우 유의미한 전시회였습니다.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4C5C"/>
                </a:solidFill>
                <a:latin typeface="맑은 고딕"/>
              </a:rPr>
              <a:t>3대 핵심 발견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20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6148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휴머노이드 로봇의 빠른 상용화 진행 — 예상보다 이른 제조 현장 투입 시점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00400"/>
            <a:ext cx="320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1868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AMR 기반 물류 자동화의 성숙 — 즉시 도입 가능한 기술 완성도 확인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320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75887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맑은 고딕"/>
              </a:rPr>
              <a:t>AI 품질검사의 인라인 적용 확산 — SW 플랫폼 중심 경쟁 구도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E4A"/>
                </a:solidFill>
                <a:latin typeface="맑은 고딕"/>
              </a:rPr>
              <a:t>LG전자 생산기술원 2026  |  2026 부산로봇기술산업전시회(ROBO EXPO Busan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