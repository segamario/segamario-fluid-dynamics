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4572000"/>
            <a:ext cx="4142232" cy="228600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4C5C"/>
                </a:solidFill>
                <a:latin typeface="맑은 고딕"/>
              </a:rPr>
              <a:t>LG전자 생산기술원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0058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전시회 관람 보고서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29968"/>
            <a:ext cx="10058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FF4C5C"/>
                </a:solidFill>
                <a:latin typeface="맑은 고딕"/>
              </a:rPr>
              <a:t>2026 부산 오토매뉴팩·로봇엑스포·빅테크쇼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7860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BBCC"/>
                </a:solidFill>
                <a:latin typeface="맑은 고딕"/>
              </a:rPr>
              <a:t>AUTOMANUFAC × ROBOT EXPO × BIG TECH SHOW BUSAN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7132320" cy="36576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27248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CCCCC"/>
                </a:solidFill>
                <a:latin typeface="맑은 고딕"/>
              </a:rPr>
              <a:t>장  소: 부산 벡스코(BEXCO) 제2전시장 4홀 (B·C·D·E·F관)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CCCCC"/>
                </a:solidFill>
                <a:latin typeface="맑은 고딕"/>
              </a:rPr>
              <a:t>기  간: 2026. 7. 1(수) ~ 7. 3(금)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CCCCC"/>
                </a:solidFill>
                <a:latin typeface="맑은 고딕"/>
              </a:rPr>
              <a:t>규  모: 5개국, 363개 부스(8,352㎡)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CCCCCC"/>
                </a:solidFill>
                <a:latin typeface="맑은 고딕"/>
              </a:rPr>
              <a:t>주  관: 한국산업전람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63440"/>
            <a:ext cx="2377440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663440"/>
            <a:ext cx="54864" cy="96012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718304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4C5C"/>
                </a:solidFill>
                <a:latin typeface="맑은 고딕"/>
              </a:rPr>
              <a:t>5개국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39512"/>
            <a:ext cx="2240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참가국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4663440"/>
            <a:ext cx="2377440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4663440"/>
            <a:ext cx="54864" cy="96012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0" y="4718304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4C5C"/>
                </a:solidFill>
                <a:latin typeface="맑은 고딕"/>
              </a:rPr>
              <a:t>363부스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5239512"/>
            <a:ext cx="2240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전시 규모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4663440"/>
            <a:ext cx="2377440" cy="9601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0" y="4663440"/>
            <a:ext cx="54864" cy="96012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4718304"/>
            <a:ext cx="2194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4C5C"/>
                </a:solidFill>
                <a:latin typeface="맑은 고딕"/>
              </a:rPr>
              <a:t>8,352㎡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5239512"/>
            <a:ext cx="22402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전시 면적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9AA"/>
                </a:solidFill>
                <a:latin typeface="맑은 고딕"/>
              </a:rPr>
              <a:t>관람일: 2026. 7. 1  |  작성: LG전자 생산기술원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전시회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217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4C5C"/>
                </a:solidFill>
                <a:latin typeface="맑은 고딕"/>
              </a:rPr>
              <a:t>벡스코 제2전시장 4홀 — 3개 전문 전시회 통합 운영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LG전자 생산기술원  |  2026 부산로봇엑스포 관람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2026. 7. 3.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512064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005840"/>
            <a:ext cx="512064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행사 기본 정보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463040"/>
            <a:ext cx="141732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1508760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전시 기간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152704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2026. 7. 1(수) ~ 7. 3(금), 3일간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029968"/>
            <a:ext cx="141732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" y="2075688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전시 장소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2093976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부산 벡스코(BEXCO) 제2전시장 4홀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2596896"/>
            <a:ext cx="141732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" y="2642616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관람 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73352" y="2660904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7/1~7/2  10:00~17:00  /  7/3  10:00~16:00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163824"/>
            <a:ext cx="141732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6032" y="3209544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참가 규모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3352" y="3227832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5개국, 363개 부스(8,352㎡)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730752"/>
            <a:ext cx="141732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" y="3776472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참가국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3352" y="3794760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한국 · 독일 · 일본 · 중국 · 말레이시아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4297680"/>
            <a:ext cx="141732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" y="4343400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주관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73352" y="436168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한국산업전람 (031-380-6806)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864608"/>
            <a:ext cx="1417320" cy="502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6032" y="4910328"/>
            <a:ext cx="1353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전시 주제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73352" y="4928616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로봇 AI 기반 기술과 혁신이
만드는 새로운 부산의 물결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77840" y="1005840"/>
            <a:ext cx="6382512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77840" y="1005840"/>
            <a:ext cx="6382512" cy="384048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1005840"/>
            <a:ext cx="63825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제2전시장 4홀 — 3개 전시회 구성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0" y="1481328"/>
            <a:ext cx="6382512" cy="347472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50992" y="15179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ROBOT EXPO
부산로봇엑스포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1865376"/>
            <a:ext cx="62179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▸ 유니트리 로보틱스(Unitree Robotics)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- G1·R1 휴머노이드, B2 사족보행 로봇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▸ DJI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- 산업용·물류·수상 드론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▸ 서비스 로봇, 부품·센서 전문업체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▸ 휴머노이드 AI 제어 플랫폼 기업군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577840" y="3108960"/>
            <a:ext cx="6382512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50992" y="314553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AUTOMANUFAC
부산오토매뉴팩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23560" y="3493008"/>
            <a:ext cx="62179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▸ 성우하이텍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- 차체 부품 제조 자동화, 용접 라인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▸ BorgWarner(보그워너)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- 전기차 파워트레인·전장 부품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▸ 7축 로봇 용접기 전문 중소기업군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▸ 반송용 설비기계, 프레스 자동화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77840" y="4736592"/>
            <a:ext cx="6382512" cy="34747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50992" y="477316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BIG TECH SHOW
로봇물류제조자동화산업대전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3560" y="5120640"/>
            <a:ext cx="62179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▸ 쿳션(CUTSHION) — 부스 4D0705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- 제조·물류·F&amp;B·교육 로봇 솔루션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▸ AMR / AGV 자율물류 기업군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▸ AI 스마트팩토리 솔루션사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▸ 디지털 트윈 · MES · ERP 연동 업체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▸ 2026 AI자율제조혁신 컨퍼런스 병행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[로봇엑스포] 유니트리 로보틱스 (Unitree Robotics)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217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4C5C"/>
                </a:solidFill>
                <a:latin typeface="맑은 고딕"/>
              </a:rPr>
              <a:t>중국 — 이번 전시 최대 주목 부스 / 휴머노이드 G1·R1 및 사족보행 B2 실물 시연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LG전자 생산기술원  |  2026 부산로봇엑스포 관람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2026. 7. 3.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3749039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005840"/>
            <a:ext cx="3749039" cy="36576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G1 휴머노이드 로봇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371600"/>
            <a:ext cx="3749039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" y="137160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출시 · 상용화 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171907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  <a:latin typeface="맑은 고딕"/>
              </a:rPr>
              <a:t>■ 주요 사양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" y="1993392"/>
            <a:ext cx="351129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신장 127cm / 중량 35kg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자유도(DOF) 23축 — 정밀 손가락 관절 포함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배터리 1회 충전 2시간 연속 작동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가격: 약 $16,000(약 2,200만원)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" y="3364992"/>
            <a:ext cx="3511296" cy="27432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341985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E0A2C"/>
                </a:solidFill>
                <a:latin typeface="맑은 고딕"/>
              </a:rPr>
              <a:t>■ 전시장 시연 내용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" y="3694176"/>
            <a:ext cx="35112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부품 집기·이송·조립 동작 시연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계단 오르내리기, 장애물 회피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실시간 AI 제어로 돌발 상황 대응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공장 순찰 시나리오 소개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005840"/>
            <a:ext cx="3749039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06240" y="1005840"/>
            <a:ext cx="3749039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R1 휴머노이드 로봇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1371600"/>
            <a:ext cx="3749039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137160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차세대 신형 모델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171907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  <a:latin typeface="맑은 고딕"/>
              </a:rPr>
              <a:t>■ 주요 사양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1993392"/>
            <a:ext cx="351129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G1 대비 상체 자유도 대폭 향상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양팔 협력 작업 최적화 설계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고속 동작·넘어짐 복원 개선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2026년 하반기 상용 출하 예정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5968" y="3364992"/>
            <a:ext cx="3511296" cy="2743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5968" y="341985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  <a:latin typeface="맑은 고딕"/>
              </a:rPr>
              <a:t>■ 전시장 시연 내용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6" y="3694176"/>
            <a:ext cx="35112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양팔로 박스 들어올리기·적재 시연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사람과의 물체 전달 협업 시연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비정형 부품 피킹(Vision+AI 연동)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산업 현장 투입 데모 영상 상영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1005840"/>
            <a:ext cx="3749039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83879" y="1005840"/>
            <a:ext cx="3749039" cy="36576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10058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B2 사족보행 로봇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83879" y="1371600"/>
            <a:ext cx="3749039" cy="29260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137160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산업 현장 투입 모델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93607" y="1719072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  <a:latin typeface="맑은 고딕"/>
              </a:rPr>
              <a:t>■ 주요 사양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1895" y="1993392"/>
            <a:ext cx="3511296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적재 하중 40kg, 최고속도 6m/s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IP67 방수방진 — 야외·거친 환경 적합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라이다+비전 센서 융합 자율 맵핑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가격: 약 $30,000 (산업용 기준)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93607" y="3364992"/>
            <a:ext cx="3511296" cy="2743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93607" y="3419856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7A3C"/>
                </a:solidFill>
                <a:latin typeface="맑은 고딕"/>
              </a:rPr>
              <a:t>■ 전시장 시연 내용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11895" y="3694176"/>
            <a:ext cx="351129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공장·야외 지형 자율주행 시연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설비 점검 패트롤 시나리오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센서 데이터 실시간 모니터링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사람 추종·경로 안내 데모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" y="6473952"/>
            <a:ext cx="11731752" cy="73152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8600" y="6473952"/>
            <a:ext cx="11731752" cy="347472"/>
          </a:xfrm>
          <a:prstGeom prst="rect">
            <a:avLst/>
          </a:prstGeom>
          <a:solidFill>
            <a:srgbClr val="FD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6501384"/>
            <a:ext cx="11521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E0A2C"/>
                </a:solidFill>
                <a:latin typeface="맑은 고딕"/>
              </a:rPr>
              <a:t>LG생산기술원 시사점  중국산 휴머노이드의 가격 충격($16K) — 도입 검토 시점이 '언제'가 아닌 '어떤 공정부터'로 이미 전환됨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[로봇엑스포] DJI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217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4C5C"/>
                </a:solidFill>
                <a:latin typeface="맑은 고딕"/>
              </a:rPr>
              <a:t>중국 — 산업용 드론에서 대형 물류운반 드론·수상 드론까지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LG전자 생산기술원  |  2026 부산로봇엑스포 관람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2026. 7. 3.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704088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005840"/>
            <a:ext cx="704088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005840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전시 제품 및 시연 시나리오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481328"/>
            <a:ext cx="7040880" cy="329184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1527048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산업용 점검 드론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1847088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공장 설비 상공 자율 비행 → 열화상·비전 카메라 점검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Matrice 4 시리즈 — AI 장애물 회피, 실내외 겸용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정밀 호버링으로 좁은 설비 사이 촬영 시연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생산라인 비가동 설비 이상 감지 실시간 알림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108960"/>
            <a:ext cx="7040880" cy="329184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154680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대형 물류운반 드론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474720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30~50kg 화물 이송 가능한 멀티로터 플랫폼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공장 동 간(棟間) 부품·반제품 공중 이송 시나리오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AGV 대비 바닥 레이아웃 제약 없음 — 3D 동선 확보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배터리 스왑 스테이션 자율 귀환 운용 데모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4736592"/>
            <a:ext cx="7040880" cy="329184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782312"/>
            <a:ext cx="6766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수상 드론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5102352"/>
            <a:ext cx="6858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해양 모니터링·해상 물류 전용 플랫폼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방수 IP68 등급, 수면 착수·이수 자율 운용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항만·선박 접안 설비 점검 시나리오 소개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LiDAR+카메라 융합 3D 매핑 데모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1005840"/>
            <a:ext cx="4462272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79" y="1005840"/>
            <a:ext cx="4462272" cy="384048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1005840"/>
            <a:ext cx="44622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LG생산기술원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463040"/>
            <a:ext cx="427939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① 공장 내 수직 물류 동선 가능성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AGV/AMR이 담당하는 수평 이송에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드론 기반 수직 동선 추가 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층간·동간 이송 효율 획기적 개선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② 설비 점검 자동화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사람이 직접 접근하기 어려운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대형 설비·고소 공간 정기 점검에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드론 도입 즉시 적용 가능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③ 국내 규제 현황 확인 필요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공장 내 실내 드론 비행은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현행 항공안전법 예외 적용 가능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→ 법무팀과 사전 검토 착수 권고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④ 단기 파일럿 대상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창원 공장 동간 부품 이송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라인 or 구미 공장 점검 드론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시범 도입 검토 (2027 상반기)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[오토매뉴팩] 성우하이텍 &amp; BorgWarner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217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4C5C"/>
                </a:solidFill>
                <a:latin typeface="맑은 고딕"/>
              </a:rPr>
              <a:t>한국 · 글로벌 — 자동차·전장 제조 자동화 벤치마킹 포인트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LG전자 생산기술원  |  2026 부산로봇엑스포 관람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2026. 7. 3.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5669280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005840"/>
            <a:ext cx="566928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00584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성우하이텍 (Sungwoo Hitech)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4173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국내 / 차체 부품·도어·범퍼 등 프레스·용접 제조 전문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737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  <a:latin typeface="맑은 고딕"/>
              </a:rPr>
              <a:t>■ 전시 주요 내용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05740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차체 패널·범퍼 제조 자동화 라인 모형 전시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6축 다관절 로봇 용접 셀 시연 영상 상영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AI 비전 기반 용접 비드(Bead) 품질 실시간 검사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프레스-로봇-검사 일괄 자동화 공정 플로우 소개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스마트 제조 MES 대시보드 실시간 공정 모니터링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단일 셀 내 7축 로봇으로 복잡 곡면 용접 적용 사례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31920"/>
            <a:ext cx="5486400" cy="27432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97763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E0A2C"/>
                </a:solidFill>
                <a:latin typeface="맑은 고딕"/>
              </a:rPr>
              <a:t>■ LG생산기술원 시사점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29768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▶ 가전 외장재(세탁기·냉장고) 금속 프레임 용접 공정에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7축 로봇 적용 타당성 검토 — 복잡 곡면 대응력 확인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▶ AI 비전 용접 검사 솔루션 → 인라인 QC 즉시 도입 검토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▶ MES 연동 실시간 모니터링 방식을 당사 생산라인에 적용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▶ 성우하이텍 자동화팀과 기술 교류 협력 가능성 타진 권고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005840"/>
            <a:ext cx="5833872" cy="5394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1005840"/>
            <a:ext cx="5833872" cy="38404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005840"/>
            <a:ext cx="58338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BorgWarner(보그워너)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417320"/>
            <a:ext cx="56509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글로벌 / 전기차 파워트레인·전장 부품 전문 (미국 본사)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737360"/>
            <a:ext cx="5650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  <a:latin typeface="맑은 고딕"/>
              </a:rPr>
              <a:t>■ 전시 주요 내용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057400"/>
            <a:ext cx="56509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전기차 구동모터·인버터·온보드 충전기(OBC) 제품 전시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EV 파워트레인 제조 자동화 공정 영상 및 데이터 소개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배터리 열관리 모듈(BTM) 조립 자동화 라인 사례 공개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전장 부품 불량 zero 목표의 AI 검사 통합 시스템 소개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한국 공장(이천) 스마트팩토리 적용 현황 발표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글로벌 서플라이체인 내 자동화 표준화 전략 공유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931920"/>
            <a:ext cx="5486400" cy="27432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977639"/>
            <a:ext cx="5650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E0A2C"/>
                </a:solidFill>
                <a:latin typeface="맑은 고딕"/>
              </a:rPr>
              <a:t>■ LG생산기술원 시사점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4297680"/>
            <a:ext cx="565099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▶ EV 전장 부품 제조 자동화 벤치마킹 — LG이노텍 협업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가능성 검토 (전장 부품 품질 자동화 표준 공유)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▶ 배터리 열관리 모듈 조립 자동화는 LG에너지솔루션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제조 혁신 로드맵과 직접 연계 가능한 레퍼런스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▶ 보그워너 한국 공장 스마트팩토리 사례 → 현장 방문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벤치마킹 협의 권고 (이천 공장)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[빅테크쇼] 쿳션(CUTSHION) &amp; 자율제조 솔루션 기업군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217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4C5C"/>
                </a:solidFill>
                <a:latin typeface="맑은 고딕"/>
              </a:rPr>
              <a:t>BIG TECH SHOW 2026 — 로봇·물류·제조자동화 약 300개사·500부스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LG전자 생산기술원  |  2026 부산로봇엑스포 관람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2026. 7. 3.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11731752" cy="235915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005840"/>
            <a:ext cx="54864" cy="2359152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1005840"/>
            <a:ext cx="4114800" cy="384048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10058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쿳션 (CUTSHION)  —  부스 4D0705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14173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국내 / 제조·물류·F&amp;B·교육 분야 실용 로봇 솔루션 전문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1737360"/>
            <a:ext cx="77724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단순 판매 아닌 '로봇이 어떻게 현장에서 쓰이는지' 실사용 시나리오 중심 전시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제조 라인 내 협동로봇 보조 작업, 물류 내 AMR 연계, F&amp;B 서빙·조리 자동화 패키지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교육기관 대상 로봇 교육 플랫폼 및 RaaS(Robot as a Service) 모델 소개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• 소규모 제조기업도 즉시 도입 가능한 저비용 로봇화 솔루션 제안 → 중소기업 타겟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078992"/>
            <a:ext cx="3657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맑은 고딕"/>
              </a:rPr>
              <a:t>시사점  RaaS 구독 모델 확산 — '로봇 구매' 아닌 '로봇 사용권'으로 초기 투자 부담 해소. LG생산기술원 계열 중소 협력사 스마트화 지원 프로그램과 연계 검토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051560"/>
            <a:ext cx="45720" cy="224028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3474720"/>
            <a:ext cx="11731752" cy="36576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3511296"/>
            <a:ext cx="11731752" cy="36576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3511296"/>
            <a:ext cx="11731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빅테크쇼(BIG TECH SHOW) 전반 관찰 — AMR·협동로봇·스마트팩토리·AI 검사 기업군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3913632"/>
            <a:ext cx="283464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913632"/>
            <a:ext cx="2834640" cy="45720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39136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AMR / AGV
자율물류 기업군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4407408"/>
            <a:ext cx="2633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SLAM 기반 자율 맵핑
고정 레일 없이 공장 자율 운용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다중 로봇 Fleet
Management SW 완성도 향상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MES 연동 실시간
동선 재설정 가능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72968" y="3913632"/>
            <a:ext cx="283464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72968" y="3913632"/>
            <a:ext cx="2834640" cy="4572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72968" y="39136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협동로봇(Cobot)
솔루션 기업군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82696" y="4407408"/>
            <a:ext cx="2633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직접 교시(Direct Teaching)
UI 보편화 확인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힘·토크 센서 내장
복잡 조립 대응 가능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다품종 소량 전환 시
프로그래밍 無 재설정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17336" y="3913632"/>
            <a:ext cx="283464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17336" y="3913632"/>
            <a:ext cx="2834640" cy="4572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17336" y="39136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AI 스마트팩토리
솔루션 기업군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7064" y="4407408"/>
            <a:ext cx="2633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GPU 엣지 AI 비전 검사
인라인 실시간 불량 검출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디지털 트윈 기반
공정 파라미터 AI 최적화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AI자율제조혁신 컨퍼런스
(빅테크쇼 공식 부대행사)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61704" y="3913632"/>
            <a:ext cx="283464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061704" y="3913632"/>
            <a:ext cx="2834640" cy="457200"/>
          </a:xfrm>
          <a:prstGeom prst="rect">
            <a:avLst/>
          </a:prstGeom>
          <a:solidFill>
            <a:srgbClr val="7B3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61704" y="3913632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로봇 부품·센서
전문 기업군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71432" y="4407408"/>
            <a:ext cx="26334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감속기·모터드라이브
국산화 현황 확인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비전·힘토크·라이다 센서
원스톱 공급 가능 업체 확인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엔드이펙터(그리퍼) 전문사
다품종 파지 솔루션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LG전자 생산기술원 — 종합 시사점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217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4C5C"/>
                </a:solidFill>
                <a:latin typeface="맑은 고딕"/>
              </a:rPr>
              <a:t>전시회 관찰을 LG 생산 현장과 직접 연결한 실행 관점 분석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LG전자 생산기술원  |  2026 부산로봇엑스포 관람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2026. 7. 3.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1005840"/>
            <a:ext cx="3749039" cy="2697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1168" y="1005840"/>
            <a:ext cx="3749039" cy="438912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100584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① 휴머노이드 도입
시점 재검토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" y="1481328"/>
            <a:ext cx="3566159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유니트리 G1, $16K — 기존 예상 가격의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1/10 수준. 3~5년 내 상용화 현실화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단기: 물류·자재 이송(비정밀) 파일럿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중기: 조립 보조·검사(반정밀) 확대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→ 2027년 파일럿 라인 구성 착수 권고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78807" y="1005840"/>
            <a:ext cx="3749039" cy="2697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78807" y="1005840"/>
            <a:ext cx="3749039" cy="43891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78807" y="100584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② AMR 전환
가속화 시점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5" y="1481328"/>
            <a:ext cx="3566159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SLAM 기반 AMR 완성도 상용 수준 도달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창원·구미 공장 AGV → AMR 전환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로드맵 재수립 (2027년 착수)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계열사 로보스타 AMR 솔루션과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연계 강화로 비용 최소화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56448" y="1005840"/>
            <a:ext cx="3749039" cy="2697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56448" y="1005840"/>
            <a:ext cx="3749039" cy="438912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56448" y="1005840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③ 드론 물류
신규 검토 항목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481328"/>
            <a:ext cx="3566159" cy="2130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DJI 물류드론 — 동간(棟間) 이송 가능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AGV 사각지대(층간·이격동) 해소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국내 공장 내 실내 드론 비행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항공안전법 예외 규정 사전 확인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→ 법무팀 검토 → 2027 파일럿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" y="3886200"/>
            <a:ext cx="5577840" cy="2514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2608" y="3886200"/>
            <a:ext cx="5577840" cy="438912"/>
          </a:xfrm>
          <a:prstGeom prst="rect">
            <a:avLst/>
          </a:prstGeom>
          <a:solidFill>
            <a:srgbClr val="7B3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3886200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④ AI 인라인
품질검사 즉시 도입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" y="4361688"/>
            <a:ext cx="53949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GPU 엣지 AI 비전 검사 상용 성숙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성우하이텍·BorgWarner 적용 사례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실제 공정 레퍼런스 확인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LG 생산라인 인라인 QC 전환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→ 공급업체 비교 평가 즉시 착수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6207" y="3886200"/>
            <a:ext cx="5577840" cy="2514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6207" y="3886200"/>
            <a:ext cx="5577840" cy="438912"/>
          </a:xfrm>
          <a:prstGeom prst="rect">
            <a:avLst/>
          </a:prstGeom>
          <a:solidFill>
            <a:srgbClr val="C8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7" y="3886200"/>
            <a:ext cx="5577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⑤ 벤치마킹
후속 협력 채널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5" y="4361688"/>
            <a:ext cx="53949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성우하이텍 자동화팀 기술 교류 협의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BorgWarner 이천 공장 벤치마킹 방문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쿳션(CUTSHION) RaaS 모델 → LG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  협력사 스마트화 지원 연계 검토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한국산업전람 차기 전시 참가 검토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단기 실행 과제 &amp; 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217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4C5C"/>
                </a:solidFill>
                <a:latin typeface="맑은 고딕"/>
              </a:rPr>
              <a:t>관찰 → 분석 → 행동 — LG전자 생산기술원 제언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LG전자 생산기술원  |  2026 부산로봇엑스포 관람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2026. 7. 3.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11731752" cy="384048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005840"/>
            <a:ext cx="117317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단기 실행 과제 (6개월 이내)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463040"/>
            <a:ext cx="548640" cy="41148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1508760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8" y="1463040"/>
            <a:ext cx="5943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5270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협동로봇 파일럿 공정 선정 및 PoC 기획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1463040"/>
            <a:ext cx="22860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15270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공정자동화팀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79992" y="1463040"/>
            <a:ext cx="288036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2" y="1527048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쿳션·국내 Cobot사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1938528"/>
            <a:ext cx="548640" cy="41148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1984248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8" y="1938528"/>
            <a:ext cx="5943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00253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AMR 도입 대상 공장(창원·구미) 타당성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1938528"/>
            <a:ext cx="22860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20025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물류혁신팀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79992" y="1938528"/>
            <a:ext cx="288036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2" y="2002536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계열사 로보스타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2414016"/>
            <a:ext cx="548640" cy="41148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" y="2459736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" y="2414016"/>
            <a:ext cx="5943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2478024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AI 비전 인라인 검사 솔루션 공급업체 비교평가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2414016"/>
            <a:ext cx="22860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12280" y="247802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품질기술팀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79992" y="2414016"/>
            <a:ext cx="288036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5712" y="2478024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성우하이텍 사례 참고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889504"/>
            <a:ext cx="548640" cy="411480"/>
          </a:xfrm>
          <a:prstGeom prst="rect">
            <a:avLst/>
          </a:prstGeom>
          <a:solidFill>
            <a:srgbClr val="7B3F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" y="2935224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8" y="2889504"/>
            <a:ext cx="5943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295351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공장 내 드론 비행 법규 검토 착수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6560" y="2889504"/>
            <a:ext cx="22860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295351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법무·안전팀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79992" y="2889504"/>
            <a:ext cx="288036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25712" y="295351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DJI 기술 문서 활용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3364992"/>
            <a:ext cx="548640" cy="411480"/>
          </a:xfrm>
          <a:prstGeom prst="rect">
            <a:avLst/>
          </a:prstGeom>
          <a:solidFill>
            <a:srgbClr val="C8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" y="3410712"/>
            <a:ext cx="548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8" y="3364992"/>
            <a:ext cx="59436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342900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BorgWarner 이천 공장 벤치마킹 방문 협의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0" y="3364992"/>
            <a:ext cx="228600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12280" y="3429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전략기획팀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79992" y="3364992"/>
            <a:ext cx="2880360" cy="4114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25712" y="342900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맑은 고딕"/>
              </a:rPr>
              <a:t>보그워너 한국법인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5528" y="1389888"/>
            <a:ext cx="5943600" cy="7315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766560" y="1389888"/>
            <a:ext cx="2286000" cy="7315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079992" y="1389888"/>
            <a:ext cx="2880360" cy="7315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8600" y="4041648"/>
            <a:ext cx="11731752" cy="36576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28600" y="4114800"/>
            <a:ext cx="11731752" cy="2286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8600" y="4114800"/>
            <a:ext cx="54864" cy="228600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41605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E0A2C"/>
                </a:solidFill>
                <a:latin typeface="맑은 고딕"/>
              </a:rPr>
              <a:t>결론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452628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2026 부산 오토매뉴팩·로봇엑스포·빅테크쇼는 로봇·자동화·드론 기술의 현재 수준을 한 자리에서 확인할 수 있는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유의미한 전시회였습니다. 유니트리 로보틱스(G1·R1 휴머노이드, B2 사족보행), DJI(물류·산업용 드론), 성우하이텍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(용접·조립 자동화), BorgWarner(전장 자동화), 쿳션(RaaS 로봇 솔루션) 등 주요 전시 내용을 직접 확인한 결과,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  ▸ 중국 휴머노이드의 가격 충격($16K) 으로 '도입 여부'가 아닌 '어떤 공정부터' 의 논의로 즉시 전환이 필요하며,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  ▸ AMR·AI 품질검사는 이미 상용 도입 가능 수준에 도달한 것을 현장에서 직접 확인하였습니다.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1A1A1A"/>
                </a:solidFill>
                <a:latin typeface="맑은 고딕"/>
              </a:rPr>
              <a:t>  ▸ 위 5개 단기 실행 과제를 6개월 이내 착수하여 LG전자 생산기술원의 제조 자동화 역량을 가속화할 것을 제언합니다.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[세미나①] AI 기반 3D Vision 자율제조 — 픽킷코리아 (Pickit)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217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4C5C"/>
                </a:solidFill>
                <a:latin typeface="맑은 고딕"/>
              </a:rPr>
              <a:t>2026 AI자율제조혁신 컨퍼런스  |  Day 1 (7/1)  13:30~14:00  |  벡스코 제2전시장 4홀 컨퍼런스룸  |  주관: ㈜첨단·벡스코·한국산업전람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LG전자 생산기술원  |  2026 부산로봇엑스포 관람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2026. 7. 3.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6812280" cy="5440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005840"/>
            <a:ext cx="681228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005840"/>
            <a:ext cx="6812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픽킷코리아 (Pickit Korea)  —  발표 내용 요약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44475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  <a:latin typeface="맑은 고딕"/>
              </a:rPr>
              <a:t>■ 발표 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171907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AI 기반 3D Vision을 통한 자율제조(Autonomous Manufacturing)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066543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  <a:latin typeface="맑은 고딕"/>
              </a:rPr>
              <a:t>■ 핵심 발표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377440"/>
            <a:ext cx="6583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랜덤 빈피킹(Bin Picking): 뒤섞인 부품을 3D 카메라로 위치·자세 인식 → 로봇 자율 파지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No-Code AI 학습: 현장 인원이 새 부품을 소수 이미지만으로 등록, 재프로그래밍 불필요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적용 분야: 자동차 부품 조립 공급, 전자 부품 피킹, 식품·물류 소분 자동화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실증 성과: 수작업 대비 처리 속도 3배 향상, 비정형 부품 파지 성공률 98% 이상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AI 비전 + 로봇 팔 완전 자율화 — 새 부품 학습 셋업 시간 30분 이내 달성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4023360"/>
            <a:ext cx="6583680" cy="27432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4087368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E0A2C"/>
                </a:solidFill>
                <a:latin typeface="맑은 고딕"/>
              </a:rPr>
              <a:t>■ LG생산기술원 시사점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4407408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▶ 반도체 웨이퍼 이송 로봇(MM) 개발 시 3D 비전 통합 → 비정형 카세트 자율 파지 가능성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▶ 계열사 로보스타 차세대 AMR에 빈피킹 모듈 추가 시 고부가 자율 피킹 AMR 경쟁력 강화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▶ LG 생산라인 소부품 공급 공정: No-Code 방식으로 현장 운영자가 직접 운용 → 도입 장벽↓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005840"/>
            <a:ext cx="4736592" cy="2926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23760" y="3977639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맑은 고딕"/>
              </a:rPr>
              <a:t>▲ AI 3D 비전 빈피킹 개념도 — 3D 카메라·AI·로봇의 자율 협업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4251960"/>
            <a:ext cx="4736592" cy="21214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3760" y="4251960"/>
            <a:ext cx="45720" cy="2121408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4297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적용 분야별 주요 사례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• 자동차: 엔진 부품·도어패널 공급 공정 (OEM 3곳 레퍼런스)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• 전자: PCB·커넥터 소형 부품 피킹 라인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• 물류: 혼재 박스 디팔레타이징 자동화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• 식품: 불규칙 형태 제품 포장 공정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[세미나②] AI 오토딥러닝 비전검사 성공사례 — 뉴로클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217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4C5C"/>
                </a:solidFill>
                <a:latin typeface="맑은 고딕"/>
              </a:rPr>
              <a:t>2026 AI자율제조혁신 컨퍼런스  |  Day 1 (7/1)  15:00~15:30  |  벡스코 제2전시장 4홀 컨퍼런스룸  |  분야: 자동차·철강 인라인 품질검사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LG전자 생산기술원  |  2026 부산로봇엑스포 관람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2026. 7. 3.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6812280" cy="5440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005840"/>
            <a:ext cx="681228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005840"/>
            <a:ext cx="6812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뉴로클 (Neuro-Clone)  —  발표 내용 요약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44475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  <a:latin typeface="맑은 고딕"/>
              </a:rPr>
              <a:t>■ 발표 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171907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AI 오토딥러닝 비전검사 솔루션 도입 성공 사례 (자동차·철강 분야)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066543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  <a:latin typeface="맑은 고딕"/>
              </a:rPr>
              <a:t>■ 핵심 발표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377440"/>
            <a:ext cx="658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오토딥러닝: 소수 불량 이미지(10장 이내)로 AI 검사 모델 자동 생성 — 데이터사이언티스트 불필요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자동차 분야: 차체 도장 핀홀·긁힘 결함, 용접 비드 기공 인라인 실시간 검출 사례 발표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철강 분야: 열연·냉연 코일 표면 스크래치·기포·압흔 AI 자동 분류 및 등급 자동 판정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성능 지표: 검사 정확도 99% 이상 | 인라인 처리 속도 0.3~0.5초/개 | 오검출률 0.2% 미만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SaaS 구독 방식: 초기 설비 투자 없이 월 사용료 기반 운영 — 중소기업도 즉시 도입 가능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전주기 오토딥러닝: 검사 설계 → 모델 학습 → 배포 → 재학습까지 자동화 완성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4251960"/>
            <a:ext cx="6583680" cy="27432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4315968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E0A2C"/>
                </a:solidFill>
                <a:latin typeface="맑은 고딕"/>
              </a:rPr>
              <a:t>■ LG생산기술원 시사점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4645152"/>
            <a:ext cx="6583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▶ 가전 외장재(세탁기·냉장고 메탈 패널) 외관 불량 검사에 즉시 적용 가능 — 공급업체 PoC 착수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▶ 소수 이미지 학습 → 신제품 출시 시 QC 모델 구축 기간 3개월 → 1주 이내로 단축 가능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▶ SaaS 방식 시범 도입 후 전 라인 확대 전략 — 투자 리스크 최소화, 6개월 내 ROI 검증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005840"/>
            <a:ext cx="4736592" cy="2926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23760" y="3977639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맑은 고딕"/>
              </a:rPr>
              <a:t>▲ 뉴로클 오토딥러닝 비전검사 프로세스 개념도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4251960"/>
            <a:ext cx="4736592" cy="21214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3760" y="4251960"/>
            <a:ext cx="45720" cy="212140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4297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산업별 적용 성공 사례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• 자동차: 도장 불량 검사 (국내 완성차 OEM 라인 적용)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• 철강: 코일 표면 결함 자동 분류 등급 판정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• 전자: PCB 납땜 불량·크랙·이물 검사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• 식품: 이물 혼입·포장 불량 인라인 검출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73152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[세미나③] 자동화 3D 측정 솔루션으로 품질혁신 — FARO Creaform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217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4C5C"/>
                </a:solidFill>
                <a:latin typeface="맑은 고딕"/>
              </a:rPr>
              <a:t>2026 AI자율제조혁신 컨퍼런스  |  Day 2 (7/2)  13:30~14:00  |  발표: 김건아 지사장 (아미텍코리아·FARO CREAFORM BU)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019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맑은 고딕"/>
              </a:rPr>
              <a:t>LG전자 생산기술원  |  2026 부산로봇엑스포 관람 보고서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맑은 고딕"/>
              </a:rPr>
              <a:t>2026. 7. 3.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005840"/>
            <a:ext cx="6812280" cy="54406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" y="1005840"/>
            <a:ext cx="681228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" y="1005840"/>
            <a:ext cx="6812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파로 크레아폼 (FARO Creaform / 아미텍코리아)  —  발표 내용 요약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44475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  <a:latin typeface="맑은 고딕"/>
              </a:rPr>
              <a:t>■ 발표 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171907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맑은 고딕"/>
              </a:rPr>
              <a:t>자동화 3D 측정 솔루션으로 제조 품질혁신 (인라인 전수검사 실현)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066543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2E4A"/>
                </a:solidFill>
                <a:latin typeface="맑은 고딕"/>
              </a:rPr>
              <a:t>■ 핵심 발표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377440"/>
            <a:ext cx="6583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포터블 3D 스캐너 기반 비접촉 치수 측정 — 기존 CMM(좌표측정기) 대비 측정 시간 최대 80% 단축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인라인 자동화: 생산 라인 내 로봇 탑재형 스캐너로 샘플링(10~20%) → 전수검사(100%) 전환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자동차 사례: 프레스 패널 변형 검사, 차체 용접부 3D 치수 측정 — 공정 중 즉시 이상 감지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항공우주 사례: 복잡 곡면 부품 비접촉 전수검사, 인간 오류 제거 — 납품 불량 제로 달성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디지털 트윈 연계: 3D 스캔 데이터 → 공정 파라미터 AI 자동 보정 → 품질 예측 제어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1A1A1A"/>
                </a:solidFill>
                <a:latin typeface="맑은 고딕"/>
              </a:rPr>
              <a:t>• ScanGauge SW: 측정 → 3D 편차 시각화 → 자동 리포트 생성 원스톱 처리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4251960"/>
            <a:ext cx="6583680" cy="27432"/>
          </a:xfrm>
          <a:prstGeom prst="rect">
            <a:avLst/>
          </a:prstGeom>
          <a:solidFill>
            <a:srgbClr val="CE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4315968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E0A2C"/>
                </a:solidFill>
                <a:latin typeface="맑은 고딕"/>
              </a:rPr>
              <a:t>■ LG생산기술원 시사점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4645152"/>
            <a:ext cx="6583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▶ 냉장고·세탁기 메탈 케이스 치수 전수검사에 인라인 3D 스캐너 도입 — 불량 유출 원천 차단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▶ 7축 용접 로봇에 3D 스캐너 탑재 → 용접 직후 비드 품질 자동 3D 측정 (성우하이텍 레퍼런스)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▶ 아미텍코리아와 PoC 협의 권고 — 파일럿 라인(창원) 선정 후 3개월 실증 후 전개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005840"/>
            <a:ext cx="4736592" cy="2926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223760" y="3977639"/>
            <a:ext cx="47365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555555"/>
                </a:solidFill>
                <a:latin typeface="맑은 고딕"/>
              </a:rPr>
              <a:t>▲ FARO Creaform 3D 측정 자동화 프로세스 개념도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4251960"/>
            <a:ext cx="4736592" cy="21214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3760" y="4251960"/>
            <a:ext cx="45720" cy="2121408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0" y="4297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산업별 적용 효과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• 자동차: 프레스 패널 치수 인라인 전수검사 → 후공정 불량 제거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• 항공우주: 복잡 곡면 부품 비접촉 검사 납품 불량 제로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• 중공업: 대형 용접 구조물 변형량 정밀 측정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1A1A1A"/>
                </a:solidFill>
                <a:latin typeface="맑은 고딕"/>
              </a:rPr>
              <a:t>• 전자: 반도체 지그·금형 정밀 치수 검증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