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5029200"/>
            <a:ext cx="3502152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9933"/>
                </a:solidFill>
                <a:latin typeface="맑은 고딕"/>
              </a:rPr>
              <a:t>한화시스템 전략부문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맑은 고딕"/>
              </a:rPr>
              <a:t>AI Factory 전략 전문가
홍 창 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LG전자 생산기술원 전략담당 | 제조혁신 Task Leader (2018~현재)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성균관대학교 기계공학 박사 (CFD/열유체)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그룹 AX Factory 전략 수립 → C-Level 보고 전 사이클 경험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256032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54864" cy="1188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937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9933"/>
                </a:solidFill>
                <a:latin typeface="맑은 고딕"/>
              </a:rPr>
              <a:t>30일→15분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AI 설계 예측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5120640"/>
            <a:ext cx="256032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20640"/>
            <a:ext cx="54864" cy="1188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51937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9933"/>
                </a:solidFill>
                <a:latin typeface="맑은 고딕"/>
              </a:rPr>
              <a:t>90%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715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인정시험 감소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120640"/>
            <a:ext cx="256032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5120640"/>
            <a:ext cx="54864" cy="1188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51937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9933"/>
                </a:solidFill>
                <a:latin typeface="맑은 고딕"/>
              </a:rPr>
              <a:t>10h→1분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715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사출 해석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자기소개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933"/>
                </a:solidFill>
                <a:latin typeface="맑은 고딕"/>
              </a:rPr>
              <a:t>기술에서 전략으로 — 8년의 여정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홍창기 | 한화시스템 전략부문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11430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63040" y="2971800"/>
            <a:ext cx="201168" cy="20116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265176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박사 과정
2011~2018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성균관대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기계공학 (CFD)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오일샌드 국책과제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국토부 장관표창</a:t>
            </a:r>
          </a:p>
        </p:txBody>
      </p:sp>
      <p:sp>
        <p:nvSpPr>
          <p:cNvPr id="15" name="Oval 14"/>
          <p:cNvSpPr/>
          <p:nvPr/>
        </p:nvSpPr>
        <p:spPr>
          <a:xfrm>
            <a:off x="4343400" y="2971800"/>
            <a:ext cx="201168" cy="20116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3291840"/>
            <a:ext cx="265176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기술 전문가
2018~2021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LG전자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생산기술원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CFD 해석 → AI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성능예측 모델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2971800"/>
            <a:ext cx="201168" cy="20116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291840"/>
            <a:ext cx="2651760" cy="256032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전략 기획
2022~2024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LG그룹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스마트팩토리 2.0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EY컨설팅 협업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VIP 보고</a:t>
            </a:r>
          </a:p>
        </p:txBody>
      </p:sp>
      <p:sp>
        <p:nvSpPr>
          <p:cNvPr id="23" name="Oval 22"/>
          <p:cNvSpPr/>
          <p:nvPr/>
        </p:nvSpPr>
        <p:spPr>
          <a:xfrm>
            <a:off x="10104120" y="2971800"/>
            <a:ext cx="201168" cy="20116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291840"/>
            <a:ext cx="2651760" cy="25603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MI Task Leader
2025~현재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그룹 제조혁신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협의회 총괄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Physical AI 전략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AX Factory 로드맵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4A"/>
                </a:solidFill>
                <a:latin typeface="맑은 고딕"/>
              </a:rPr>
              <a:t>핵심 역량: CAE (CFX/Fluent) · AI/ML/DL · 그룹 전략 기획 · C-Level 보고 · 계열사 코디네이션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4A"/>
                </a:solidFill>
                <a:latin typeface="맑은 고딕"/>
              </a:rPr>
              <a:t>핵심 역량: CAE (CFX/Fluent) · AI/ML/DL · 그룹 전략 기획 · C-Level 보고 · 계열사 코디네이션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지원 동기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933"/>
                </a:solidFill>
                <a:latin typeface="맑은 고딕"/>
              </a:rPr>
              <a:t>왜 한화시스템인가 — 위기 속 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홍창기 | 한화시스템 전략부문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5760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161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⚠ 시장 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국내 소비재·가전 제조업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중국의 '규모의 경제'에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글로벌 시장 지위 위협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단순 원가 경쟁 →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188720"/>
            <a:ext cx="3657600" cy="512064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188720"/>
            <a:ext cx="36576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2161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→ 대응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단기 추격 불가능한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고신뢰성 산업 집중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(방산·항공·바이오)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AI Factory + 실용주의
제조혁신 융합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188720"/>
            <a:ext cx="3657600" cy="5120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1188720"/>
            <a:ext cx="3657600" cy="502920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2161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✓ 기여 포인트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>트렌드 센싱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>계열사 코디네이션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>임원진 소통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>LG 검증 방법론을
한화에 즉시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E4A"/>
                </a:solidFill>
                <a:latin typeface="맑은 고딕"/>
              </a:rPr>
              <a:t>"소비재를 넘어, 더 높은 신뢰성이 요구되는 방산·항공에서 AI Factory를 완성하고 싶습니다."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성과 ①  AI Factory 현장 실증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933"/>
                </a:solidFill>
                <a:latin typeface="맑은 고딕"/>
              </a:rPr>
              <a:t>전략이 아닌 수치로 증명한 AI 제조 혁신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홍창기 | 한화시스템 전략부문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3749039" cy="5166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3749039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43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TV 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600"/>
                </a:solidFill>
                <a:latin typeface="맑은 고딕"/>
              </a:rPr>
              <a:t>30일 → 15분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40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CAE 성능예측 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06040"/>
            <a:ext cx="3383280" cy="5486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243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AI Inverse Net.
(Generative Design)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TV 낙하 해석 자동화 (Altair협업)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Forward Net → Inverse Net 개발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1,000개 이상 형상 자동 추천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CAE 엔지니어 고부가 업무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143000"/>
            <a:ext cx="3749039" cy="5166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143000"/>
            <a:ext cx="3749039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143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김치냉장고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16002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600"/>
                </a:solidFill>
                <a:latin typeface="맑은 고딕"/>
              </a:rPr>
              <a:t>인정시험 90%↓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2240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1만 Case → 800건 이내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2606040"/>
            <a:ext cx="3383280" cy="5486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26243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AI Surrogate Model
(시험 데이터 기반)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3246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외기조건·제어신호·센서온도 학습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80%+ 정확도 예측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Grid Search 최소 시험조건 도출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챔버 유휴 활용률 증가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143000"/>
            <a:ext cx="3749039" cy="5166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1143000"/>
            <a:ext cx="3749039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1143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사출성형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6002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600"/>
                </a:solidFill>
                <a:latin typeface="맑은 고딕"/>
              </a:rPr>
              <a:t>10시간 → 1분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2240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사출 CAE 해석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199" y="2606040"/>
            <a:ext cx="3383280" cy="5486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199" y="26243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GCNN + MLOps
(3D CAD 기반)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3246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3D CAD + Moldflow 데이터 파싱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Geodesic CNN (Scale 불변)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MLOps 지속 업데이트 시스템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CAE 엔지니어 역할 재정의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E4A"/>
                </a:solidFill>
                <a:latin typeface="맑은 고딕"/>
              </a:rPr>
              <a:t>한화 적용 → 방산 부품 품질검사 · 항공 구조 해석 대체 · ICT 공정 최적화에 동일 방법론 즉시 적용 가능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172200"/>
            <a:ext cx="11430000" cy="384048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1996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E4A"/>
                </a:solidFill>
                <a:latin typeface="맑은 고딕"/>
              </a:rPr>
              <a:t>한화 적용 → 방산 부품 품질검사 · 항공 구조 해석 대체 · ICT 공정 최적화에 동일 방법론 즉시 적용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성과 ②  그룹 전략 기획 &amp; C-Level 소통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933"/>
                </a:solidFill>
                <a:latin typeface="맑은 고딕"/>
              </a:rPr>
              <a:t>기술을 전략 언어로 번역해 임원진을 움직인 경험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홍창기 | 한화시스템 전략부문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560320" cy="38404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88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2020~2021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2560320" cy="374903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2763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  <a:latin typeface="맑은 고딕"/>
              </a:rPr>
              <a:t>그룹 C4협의회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전자·에솔·이노텍·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디스플레이·CNS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Tangible Asset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4건 계열사 확산</a:t>
            </a:r>
          </a:p>
        </p:txBody>
      </p:sp>
      <p:sp>
        <p:nvSpPr>
          <p:cNvPr id="15" name="Can 14"/>
          <p:cNvSpPr/>
          <p:nvPr/>
        </p:nvSpPr>
        <p:spPr>
          <a:xfrm>
            <a:off x="2880360" y="2834640"/>
            <a:ext cx="320040" cy="320040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188720"/>
            <a:ext cx="2560320" cy="38404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188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572768"/>
            <a:ext cx="2560320" cy="374903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62763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  <a:latin typeface="맑은 고딕"/>
              </a:rPr>
              <a:t>Smart Factory 2.0
VIP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EY컨설팅 협업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CAPEX/OPEX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절감 전략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사장단협의회</a:t>
            </a:r>
          </a:p>
        </p:txBody>
      </p:sp>
      <p:sp>
        <p:nvSpPr>
          <p:cNvPr id="21" name="Can 20"/>
          <p:cNvSpPr/>
          <p:nvPr/>
        </p:nvSpPr>
        <p:spPr>
          <a:xfrm>
            <a:off x="5806440" y="2834640"/>
            <a:ext cx="320040" cy="320040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188720"/>
            <a:ext cx="2560320" cy="38404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188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572768"/>
            <a:ext cx="2560320" cy="374903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62763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  <a:latin typeface="맑은 고딕"/>
              </a:rPr>
              <a:t>그룹 제조혁신
전략 / Beyond 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AI기반 전략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VIP 보고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중국 SCM 활용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대응전략 도출</a:t>
            </a:r>
          </a:p>
        </p:txBody>
      </p:sp>
      <p:sp>
        <p:nvSpPr>
          <p:cNvPr id="27" name="Can 26"/>
          <p:cNvSpPr/>
          <p:nvPr/>
        </p:nvSpPr>
        <p:spPr>
          <a:xfrm>
            <a:off x="8732520" y="2834640"/>
            <a:ext cx="320040" cy="320040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1188720"/>
            <a:ext cx="2560320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188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2025~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572768"/>
            <a:ext cx="2560320" cy="3749039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62763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MI Task Leader
그룹협의회 통합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7개 계열사 조율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C-Level 직접 보고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Physical AI·DT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신규 분과 운영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577840"/>
            <a:ext cx="11612880" cy="777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EY컨설팅 협업  ·  7개 계열사 이해관계 조율  ·  VIP/사장단 보고 반복 경험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→ 한화그룹 AX 협의체 설계 및 계열사 확산 전략 즉시 수행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한화 AX Factory 기여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9933"/>
                </a:solidFill>
                <a:latin typeface="맑은 고딕"/>
              </a:rPr>
              <a:t>LG에서 증명한 것을 한화에서 더 빠르게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홍창기 | 한화시스템 전략부문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3749039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73152" cy="47548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43000"/>
            <a:ext cx="3749039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143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① AX 로드맵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한화에어로스페이스·한화오션·
한화솔루션 등 계열사 특성별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AX Factory 로드맵 수립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ROI 기반 우선순위 설정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→ 맹목적 자동화 방지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→ LCC/고신뢰 공장 차별 전략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143000"/>
            <a:ext cx="3749039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143000"/>
            <a:ext cx="73152" cy="47548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1143000"/>
            <a:ext cx="3749039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1143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② 기술 ↔ 전략 브릿지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16916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CAE·AI·Digital Twin 기술을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전략 언어로 번역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현장 엔지니어 ↔ 임원 가교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실현 가능성 기반 전략 설계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→ 투자 실패 리스크 최소화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143000"/>
            <a:ext cx="3749039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19" y="1143000"/>
            <a:ext cx="73152" cy="47548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19" y="1143000"/>
            <a:ext cx="3749039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143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Physical AI 선제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16916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2026년 직접 수립한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Physical AI · Agentic AI · DT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전략을 방산·항공 제조에 적용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무인화 · AI 의사결정 체계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→ 한화 AX Factory 선도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차별점: LG에서 '그룹 전략 수립 → 계열사 실행 → 성과 측정 → VIP 보고' 전 사이클 직접 경험 → 한화에서 학습 없이 즉시 실행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9933"/>
                </a:solidFill>
                <a:latin typeface="맑은 고딕"/>
              </a:rPr>
              <a:t>맺음말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저는 AI Factory를 '개념'이 아닌 '성과'로 만들어 왔습니다.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LG그룹 8년간 전략 수립부터 현장 실증까지 전 과정을 경험했고,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 역량을 한화그룹 AX Factory 가속화에 즉시 투입하겠습니다.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274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587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기술 실증력 — 수치로 증명된 AI 모델 (30일→15분, 90%↓, 10h→1분)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51960"/>
            <a:ext cx="274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70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전략 기획력 — LG그룹 VIP·사장단 보고, EY컨설팅 공동 전략 수립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274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817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실행 추진력 — 단기·중장기 프로젝트를 뚝심으로 완수하는 'MI Task Leader'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  <a:latin typeface="맑은 고딕"/>
              </a:rPr>
              <a:t>홍 창 기  |  한화시스템 전략부문 지원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